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6459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DESIGN THINKING MINI-PROJECT PRESENTATION</a:t>
            </a:r>
          </a:p>
          <a:p>
            <a:pPr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CampusPlay 🎾</a:t>
            </a:r>
          </a:p>
          <a:p>
            <a:pPr>
              <a:spcBef>
                <a:spcPts val="800"/>
              </a:spcBef>
              <a:defRPr sz="1700">
                <a:solidFill>
                  <a:srgbClr val="DBEAFE"/>
                </a:solidFill>
              </a:defRPr>
            </a:pPr>
            <a:r>
              <a:t>Enhancing Campus Sports Access Through Automated Scheduling, Equipment Governance &amp; Academic Timetable Conflict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4206240"/>
            <a:ext cx="9875520" cy="1691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34340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Institution: Vidyalankar Institute of Technology (VIT), Wadala, Mumbai</a:t>
            </a:r>
          </a:p>
          <a:p>
            <a:pPr>
              <a:spcBef>
                <a:spcPts val="400"/>
              </a:spcBef>
              <a:defRPr sz="1200">
                <a:solidFill>
                  <a:srgbClr val="D1FAE5"/>
                </a:solidFill>
              </a:defRPr>
            </a:pPr>
            <a:r>
              <a:t>Department: Department of Information Technology | Academic Level: Second Year (S.E.) Engineering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Project Lead: Aryan Kelkar (Roll No: [TO BE CONFIRMED BY TEAM] | aryan.kelkar.2016@gmail.com)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Project Team: [TO BE CONFIRMED BY PROJECT TEAM: Member 2, Member 3, Member 4] | Faculty Mentor: [TO BE CONFIRMED BY TEAM]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Overview: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2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🎯 What is CampusPlay?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Institutional Platform: A comprehensive, full-stack campus sports facility management platform engineered specifically for collegiate sports infrastructure.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Multi-Facility Support: Centralized scheduling for outdoor grounds (Ground 1, Ground 2) and indoor courts (Basketball Court, Badminton Court).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Dual Role Architecture: Dedicated role-based portals for collegiate students and sports department administrators.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Single Source of Truth: Eliminates physical register books, verbal booking disputes, and uncoordinated ground allocations.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6304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👥 Target Users &amp; Problem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Target Student Body: Undergraduate students across engineering streams seeking recreational &amp; competitive sporting access.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Sports Administrators: Faculty coordinators and sports directors managing venue availability, asset allocation, and approvals.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Information Fragmentation: Students previously had zero visibility into ground availability without physically visiting the sports gymkhana.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Academic Clash Hazard: Ground reservations frequently coincided with mandatory academic lectures and laboratory practicals.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6304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⚡ Value &amp; Innovation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Real-Time Slot Discovery: Zero-friction availability grid reflecting vacant, booked, and reserved time-slots across 11 daily slots.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Academic Conflict Check: Automated verification against institutional division timetables (INFT, CMPN, EXTC, etc.) preventing bunking.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Equipment Governance: End-to-end checkout, return inspection, damage tracking, and inventory transaction auditing.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Instant Live Sync: WebSocket-driven instant notifications for immediate approval/rejection visibility without refreshing.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Challenges in Campus Sports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3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57800" cy="1920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1. Opaque Availability &amp; Slot Collisions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Students arrive at grounds only to discover existing sessions or unannounced closures. The lack of a digital availability tracker leads to friction, double-booking arguments, and wasted student recreation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57800" cy="1920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2. Academic Schedule Desynchronization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Students frequently book recreational facilities during allocated lecture or lab hours without faculty awareness. Administrators lacked any mechanism to cross-reference academic timetables before approving slots.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5257800" cy="1920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3. Unaccountable Sports Equipment Depletion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Sports gear (bats, footballs, racquets) was issued through paper logbooks. Equipment returned in damaged condition or never returned remained untracked, causing institutional budget depletion and shortages.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25780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4747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4. Administrative Overhead &amp; Lack of Audit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Sports department staff spent excessive hours answering in-person inquiries, mediating scheduling conflicts, and maintaining physical paper logs vulnerable to loss, alteration, and zero searchability.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SYNTHESIZED PROBLEM STATEMENT: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"How might we provide collegiate students with transparent, real-time sports facility reservation while empowering sports administrators with automated academic timetable conflict detection and verifiable equipment governance?"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Target Users &amp; Empathy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4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User Persona: Student Athlete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E.g., Rohan (S.E. IT, Football Captain)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Goals &amp; Needs: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Book 2-hour practice sessions in advance for tournament preparation</a:t>
            </a:r>
            <a:br/>
            <a:r>
              <a:t>• Register team squad members with verified collegiate credentials</a:t>
            </a:r>
            <a:br/>
            <a:r>
              <a:t>• Access quality football gear reliably</a:t>
            </a:r>
          </a:p>
          <a:p>
            <a:pPr>
              <a:spcBef>
                <a:spcPts val="800"/>
              </a:spcBef>
              <a:defRPr b="1" sz="1100">
                <a:solidFill>
                  <a:srgbClr val="EF4444"/>
                </a:solidFill>
              </a:defRPr>
            </a:pPr>
            <a:r>
              <a:t>Frustrations &amp; Pain Points: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Travelling to campus only to find ground allocated to casual matches</a:t>
            </a:r>
            <a:br/>
            <a:r>
              <a:t>• Equipment missing or broken on match days</a:t>
            </a:r>
            <a:br/>
            <a:r>
              <a:t>• Bureaucratic delay in getting physical sign-offs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1732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User Persona: Casual Player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E.g., Priya (T.E. CMPN, Badminton Enthusiast)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Goals &amp; Needs: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Quick 1-hour badminton slot during free academic intervals</a:t>
            </a:r>
            <a:br/>
            <a:r>
              <a:t>• Instant mobile verification and slot booking</a:t>
            </a:r>
            <a:br/>
            <a:r>
              <a:t>• Borrow racquets &amp; shuttlecocks without complex forms</a:t>
            </a:r>
          </a:p>
          <a:p>
            <a:pPr>
              <a:spcBef>
                <a:spcPts val="800"/>
              </a:spcBef>
              <a:defRPr b="1" sz="1100">
                <a:solidFill>
                  <a:srgbClr val="EF4444"/>
                </a:solidFill>
              </a:defRPr>
            </a:pPr>
            <a:r>
              <a:t>Frustrations &amp; Pain Points: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Lack of transparency on whether court is vacant</a:t>
            </a:r>
            <a:br/>
            <a:r>
              <a:t>• Uncertainty about sports room operating hours</a:t>
            </a:r>
            <a:br/>
            <a:r>
              <a:t>• Fear of unintended attendance clash with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1732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User Persona: Sports Admin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E.g., Sports Director / Gymkhana In-Charge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Goals &amp; Needs: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Verify student eligibility &amp; timetable conflicts prior to approving</a:t>
            </a:r>
            <a:br/>
            <a:r>
              <a:t>• Ensure equipment is physically checked on return and reconciled</a:t>
            </a:r>
            <a:br/>
            <a:r>
              <a:t>• Maintain centralized digital log for institutional audits</a:t>
            </a:r>
          </a:p>
          <a:p>
            <a:pPr>
              <a:spcBef>
                <a:spcPts val="800"/>
              </a:spcBef>
              <a:defRPr b="1" sz="1100">
                <a:solidFill>
                  <a:srgbClr val="EF4444"/>
                </a:solidFill>
              </a:defRPr>
            </a:pPr>
            <a:r>
              <a:t>Frustrations &amp; Pain Points: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Endless paper registers with illegible handwriting</a:t>
            </a:r>
            <a:br/>
            <a:r>
              <a:t>• Students playing during lecture hours creating attendance disputes</a:t>
            </a:r>
            <a:br/>
            <a:r>
              <a:t>• Unreturned and damaged gear with zero student accountability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Design Thinking Methodology: 5-Stage Iterative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5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057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20574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EMPATHIZE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183794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Understand User Realities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Key Activities: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Investigated campus sports access patterns</a:t>
            </a:r>
            <a:br/>
            <a:r>
              <a:t>• Observed gymkhana desk bottlenecks</a:t>
            </a:r>
            <a:br/>
            <a:r>
              <a:t>• Documented student frustrations with ground conflicts</a:t>
            </a:r>
          </a:p>
          <a:p>
            <a:pPr>
              <a:spcBef>
                <a:spcPts val="1000"/>
              </a:spcBef>
              <a:defRPr sz="1000" b="1">
                <a:solidFill>
                  <a:srgbClr val="1E293B"/>
                </a:solidFill>
              </a:defRPr>
            </a:pPr>
            <a:r>
              <a:t>Stage Outcome: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</a:defRPr>
            </a:pPr>
            <a:r>
              <a:t>Artifact:</a:t>
            </a:r>
            <a:br/>
            <a:r>
              <a:t>Stakeholder Pain Point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280160"/>
            <a:ext cx="2057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1" y="1280160"/>
            <a:ext cx="205740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DEFINE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19" y="1965960"/>
            <a:ext cx="183794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Synthesize Problem Core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Key Activities: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Formulated actionable Point-Of-View</a:t>
            </a:r>
            <a:br/>
            <a:r>
              <a:t>• Established constraints: college domain (@vit.edu.in), division rosters</a:t>
            </a:r>
            <a:br/>
            <a:r>
              <a:t>• Framed HMW questions</a:t>
            </a:r>
          </a:p>
          <a:p>
            <a:pPr>
              <a:spcBef>
                <a:spcPts val="1000"/>
              </a:spcBef>
              <a:defRPr sz="1000" b="1">
                <a:solidFill>
                  <a:srgbClr val="1E293B"/>
                </a:solidFill>
              </a:defRPr>
            </a:pPr>
            <a:r>
              <a:t>Stage Outcome:</a:t>
            </a:r>
          </a:p>
          <a:p>
            <a:pPr>
              <a:spcBef>
                <a:spcPts val="200"/>
              </a:spcBef>
              <a:defRPr sz="950" b="1">
                <a:solidFill>
                  <a:srgbClr val="1E3A8A"/>
                </a:solidFill>
              </a:defRPr>
            </a:pPr>
            <a:r>
              <a:t>Artifact:</a:t>
            </a:r>
            <a:br/>
            <a:r>
              <a:t>Core System Requirements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280160"/>
            <a:ext cx="2057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280160"/>
            <a:ext cx="20574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IDEATE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965960"/>
            <a:ext cx="183794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Explore Architectural Options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Key Activities: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Compared Form vs Custom Web App</a:t>
            </a:r>
            <a:br/>
            <a:r>
              <a:t>• Devised automated timetable conflict engine</a:t>
            </a:r>
            <a:br/>
            <a:r>
              <a:t>• Structured 2-step equipment return reconciliation</a:t>
            </a:r>
          </a:p>
          <a:p>
            <a:pPr>
              <a:spcBef>
                <a:spcPts val="1000"/>
              </a:spcBef>
              <a:defRPr sz="1000" b="1">
                <a:solidFill>
                  <a:srgbClr val="1E293B"/>
                </a:solidFill>
              </a:defRPr>
            </a:pPr>
            <a:r>
              <a:t>Stage Outcome: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Artifact:</a:t>
            </a:r>
            <a:br/>
            <a:r>
              <a:t>Solution Blueprint &amp; Feature Spec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280160"/>
            <a:ext cx="2057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280160"/>
            <a:ext cx="20574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1965960"/>
            <a:ext cx="183794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Build &amp; Refine System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Key Activities: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Multi-step Booking Wizard</a:t>
            </a:r>
            <a:br/>
            <a:r>
              <a:t>• Sport &amp; Nature Harmony UI</a:t>
            </a:r>
            <a:br/>
            <a:r>
              <a:t>• Admin verification panel &amp; live WebSocket synchronization</a:t>
            </a:r>
          </a:p>
          <a:p>
            <a:pPr>
              <a:spcBef>
                <a:spcPts val="1000"/>
              </a:spcBef>
              <a:defRPr sz="1000" b="1">
                <a:solidFill>
                  <a:srgbClr val="1E293B"/>
                </a:solidFill>
              </a:defRPr>
            </a:pPr>
            <a:r>
              <a:t>Stage Outcome: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</a:defRPr>
            </a:pPr>
            <a:r>
              <a:t>Artifact:</a:t>
            </a:r>
            <a:br/>
            <a:r>
              <a:t>Full-Stack Web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280160"/>
            <a:ext cx="2057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6608" y="1280160"/>
            <a:ext cx="20574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6336" y="1965960"/>
            <a:ext cx="183794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Verify Rigorously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Key Activities: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49 Automated unit/integration tests</a:t>
            </a:r>
            <a:br/>
            <a:r>
              <a:t>• Verified interval overlap edge cases</a:t>
            </a:r>
            <a:br/>
            <a:r>
              <a:t>• Validated file magic bytes &amp; role access controls</a:t>
            </a:r>
          </a:p>
          <a:p>
            <a:pPr>
              <a:spcBef>
                <a:spcPts val="1000"/>
              </a:spcBef>
              <a:defRPr sz="1000" b="1">
                <a:solidFill>
                  <a:srgbClr val="1E293B"/>
                </a:solidFill>
              </a:defRPr>
            </a:pPr>
            <a:r>
              <a:t>Stage Outcome: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Artifact:</a:t>
            </a:r>
            <a:br/>
            <a:r>
              <a:t>49/49 Verified Passing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Ideation &amp; Comparative Solution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6 of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956255"/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 A: Paper Register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 B: Google Form / Sheet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CampusPlay Solution (Selected)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Slot Visibility &amp;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 visibility; requires visiting sports office in 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Asynchronous; frequent overlapping submissions and conflicts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Real-time visual slot grid; instant conflict prevention &amp; booking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Academic Timetable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Completely manual; impossible for staff to verify student schedules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 validation; students self-certify without timetable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Automated verification against branch/division semester timetable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Equipment Inventory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Paper checkout book; uninspected returns and unaccounted damage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Static spreadsheet; manual stock updates prone to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Full lifecycle: check-and-set booking, return request, inspection modal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Real-Time Synchronization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None; telephone or notice board announcements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None; email notifications with multi-hour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Socket.io real-time room broadcasting for immediate updates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SOLUTION RATIONALE &amp; VALUE: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CampusPlay transitions campus recreation from fragmented, error-prone manual intervention into an institutional-grade, verifiable service-oriented architecture with full governance, automated conflict prevention, and transparent auditing.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Architecture: Multi-Tier Service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7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78608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2578608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PRESENTATION TIER</a:t>
            </a:r>
          </a:p>
          <a:p>
            <a:pPr algn="ctr">
              <a:defRPr sz="950">
                <a:solidFill>
                  <a:srgbClr val="DBEAFE"/>
                </a:solidFill>
              </a:defRPr>
            </a:pPr>
            <a:r>
              <a:t>Next.js 14 + Tailwind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2359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</a:defRPr>
            </a:pPr>
            <a:r>
              <a:t>▶ Client Engine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Next.js 14 (Pages Router) + TypeScript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▶ State &amp; Real-Time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Socket.io-Client + Context Providers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▶ UI Components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BookingWizard, GroundAvailability, ReturnModal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▶ Theme System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Sport &amp; Nature Harmony Palette + Lucide Icons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578608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280160"/>
            <a:ext cx="2578608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APPLICATION &amp; API TIER</a:t>
            </a:r>
          </a:p>
          <a:p>
            <a:pPr algn="ctr">
              <a:defRPr sz="950">
                <a:solidFill>
                  <a:srgbClr val="DBEAFE"/>
                </a:solidFill>
              </a:defRPr>
            </a:pPr>
            <a:r>
              <a:t>Express.js RESTful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359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1E3A8A"/>
                </a:solidFill>
              </a:defRPr>
            </a:pPr>
            <a:r>
              <a:t>▶ HTTP Server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Express 4.19 + Node.js (ES Modules)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▶ Security Layer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Helmet, CORS Policy, Cookie-Parser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▶ Auth Guard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JWT HttpOnly Cookies + Role RBAC Middleware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▶ Validation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express-validator (Domain, Roll &amp; Contact Checks)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280160"/>
            <a:ext cx="2578608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280160"/>
            <a:ext cx="2578608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SERVICE BUSINESS LAYER</a:t>
            </a:r>
          </a:p>
          <a:p>
            <a:pPr algn="ctr">
              <a:defRPr sz="950">
                <a:solidFill>
                  <a:srgbClr val="D1FAE5"/>
                </a:solidFill>
              </a:defRPr>
            </a:pPr>
            <a:r>
              <a:t>Domain Logic &amp;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011680"/>
            <a:ext cx="2359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▶ Timetable Engine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Interval overlap &amp; boundary conflict detection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▶ Equipment Service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Check-and-set stock allocation &amp; reconciliation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▶ Real-Time Broadcaster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Socket.io room broadcasting (admin / student)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▶ Import / Storage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CSV stream parser + binary magic-byte validator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280160"/>
            <a:ext cx="2578608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280160"/>
            <a:ext cx="2578608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PERSISTENCE TIER</a:t>
            </a:r>
          </a:p>
          <a:p>
            <a:pPr algn="ctr">
              <a:defRPr sz="950">
                <a:solidFill>
                  <a:srgbClr val="DBEAFE"/>
                </a:solidFill>
              </a:defRPr>
            </a:pPr>
            <a:r>
              <a:t>MongoDB Atlas Cloud 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011680"/>
            <a:ext cx="2359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▶ Data Store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MongoDB Cloud Database (Atlas Replica Set)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▶ ODM Layer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Mongoose 8.6 with Schemas &amp; Compound Indexes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▶ Core Models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User, Booking, Equipment, EquipmentBooking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▶ Audit Models</a:t>
            </a:r>
          </a:p>
          <a:p>
            <a:pPr>
              <a:spcBef>
                <a:spcPts val="100"/>
              </a:spcBef>
              <a:defRPr sz="950">
                <a:solidFill>
                  <a:srgbClr val="1E293B"/>
                </a:solidFill>
              </a:defRPr>
            </a:pPr>
            <a:r>
              <a:t>Timetable, TimetableDocument, InventoryTransaction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Verified Technology Stack &amp;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8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45643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50" b="1">
                <a:solidFill>
                  <a:srgbClr val="2563EB"/>
                </a:solidFill>
              </a:defRPr>
            </a:pPr>
            <a:r>
              <a:t>✔ Next.js 14.2 (TypeScript)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Server-side rendering, type-safety, modular routing, and font optimization.</a:t>
            </a:r>
          </a:p>
          <a:p>
            <a:pPr>
              <a:spcBef>
                <a:spcPts val="1000"/>
              </a:spcBef>
              <a:defRPr sz="1150" b="1">
                <a:solidFill>
                  <a:srgbClr val="2563EB"/>
                </a:solidFill>
              </a:defRPr>
            </a:pPr>
            <a:r>
              <a:t>✔ Tailwind CSS 3.4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Custom utility-first styling with 'Sport &amp; Nature Harmony' design tokens.</a:t>
            </a:r>
          </a:p>
          <a:p>
            <a:pPr>
              <a:spcBef>
                <a:spcPts val="1000"/>
              </a:spcBef>
              <a:defRPr sz="1150" b="1">
                <a:solidFill>
                  <a:srgbClr val="2563EB"/>
                </a:solidFill>
              </a:defRPr>
            </a:pPr>
            <a:r>
              <a:t>✔ Socket.io-Client 4.8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Bi-directional WebSocket client for zero-latency status synchronization.</a:t>
            </a:r>
          </a:p>
          <a:p>
            <a:pPr>
              <a:spcBef>
                <a:spcPts val="1000"/>
              </a:spcBef>
              <a:defRPr sz="1150" b="1">
                <a:solidFill>
                  <a:srgbClr val="2563EB"/>
                </a:solidFill>
              </a:defRPr>
            </a:pPr>
            <a:r>
              <a:t>✔ Framer Motion &amp; Lucide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Hardware-accelerated micro-animations and clean sports UI iconography.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8016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80160"/>
            <a:ext cx="3456432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BACKEND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92024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50" b="1">
                <a:solidFill>
                  <a:srgbClr val="1E3A8A"/>
                </a:solidFill>
              </a:defRPr>
            </a:pPr>
            <a:r>
              <a:t>✔ Node.js 18+ (ES Modules)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Asynchronous, event-driven JavaScript runtime with native module syntax.</a:t>
            </a:r>
          </a:p>
          <a:p>
            <a:pPr>
              <a:spcBef>
                <a:spcPts val="1000"/>
              </a:spcBef>
              <a:defRPr sz="1150" b="1">
                <a:solidFill>
                  <a:srgbClr val="1E3A8A"/>
                </a:solidFill>
              </a:defRPr>
            </a:pPr>
            <a:r>
              <a:t>✔ Express.js 4.19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Lightweight, flexible web framework powering REST endpoints and middleware.</a:t>
            </a:r>
          </a:p>
          <a:p>
            <a:pPr>
              <a:spcBef>
                <a:spcPts val="1000"/>
              </a:spcBef>
              <a:defRPr sz="1150" b="1">
                <a:solidFill>
                  <a:srgbClr val="1E3A8A"/>
                </a:solidFill>
              </a:defRPr>
            </a:pPr>
            <a:r>
              <a:t>✔ Socket.io 4.8 Server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WebSocket server enabling real-time administrative and student room messaging.</a:t>
            </a:r>
          </a:p>
          <a:p>
            <a:pPr>
              <a:spcBef>
                <a:spcPts val="1000"/>
              </a:spcBef>
              <a:defRPr sz="1150" b="1">
                <a:solidFill>
                  <a:srgbClr val="1E3A8A"/>
                </a:solidFill>
              </a:defRPr>
            </a:pPr>
            <a:r>
              <a:t>✔ Multer 2.4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Multipart form handling for timetable CSV and reference document uploads.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28016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280160"/>
            <a:ext cx="345643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DATA, SECURITY &amp;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92024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50" b="1">
                <a:solidFill>
                  <a:srgbClr val="10B981"/>
                </a:solidFill>
              </a:defRPr>
            </a:pPr>
            <a:r>
              <a:t>✔ MongoDB Atlas + Mongoose 8.6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Cloud NoSQL document store with strict Mongoose schema validation.</a:t>
            </a:r>
          </a:p>
          <a:p>
            <a:pPr>
              <a:spcBef>
                <a:spcPts val="1000"/>
              </a:spcBef>
              <a:defRPr sz="1150" b="1">
                <a:solidFill>
                  <a:srgbClr val="10B981"/>
                </a:solidFill>
              </a:defRPr>
            </a:pPr>
            <a:r>
              <a:t>✔ JWT + HttpOnly Cookies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Tamper-proof authentication preventing XSS and credential interception.</a:t>
            </a:r>
          </a:p>
          <a:p>
            <a:pPr>
              <a:spcBef>
                <a:spcPts val="1000"/>
              </a:spcBef>
              <a:defRPr sz="1150" b="1">
                <a:solidFill>
                  <a:srgbClr val="10B981"/>
                </a:solidFill>
              </a:defRPr>
            </a:pPr>
            <a:r>
              <a:t>✔ Node Test Runner (node:test)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Native zero-dependency test suite running 49 automated verification tests.</a:t>
            </a:r>
          </a:p>
          <a:p>
            <a:pPr>
              <a:spcBef>
                <a:spcPts val="1000"/>
              </a:spcBef>
              <a:defRPr sz="1150" b="1">
                <a:solidFill>
                  <a:srgbClr val="10B981"/>
                </a:solidFill>
              </a:defRPr>
            </a:pPr>
            <a:r>
              <a:t>✔ Render &amp; Atlas Cloud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Live production backend deployed on Render with cloud database peering.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System Modules &amp; Implemented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9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1. Multi-Step Booking Wizard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Real-time visual ground availability grid across 11 daily slots (8 AM - 7 PM)</a:t>
            </a:r>
            <a:br/>
            <a:r>
              <a:t>• Support for single or dual consecutive hour reservations</a:t>
            </a:r>
            <a:br/>
            <a:r>
              <a:t>• Dynamic squad member registration with roll &amp; email validation</a:t>
            </a:r>
            <a:br/>
            <a:r>
              <a:t>• Comprehensive pre-submission review modal before final booking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2. Timetable Conflict Verification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Compares requested slot against student's branch/division timetable</a:t>
            </a:r>
            <a:br/>
            <a:r>
              <a:t>• Detects overlaps, boundary touching (no collision), and multi-hour practicals</a:t>
            </a:r>
            <a:br/>
            <a:r>
              <a:t>• Flags bookings: CONFLICT DETECTED, NO CONFLICT, or DOCUMENT AVAILABLE</a:t>
            </a:r>
            <a:br/>
            <a:r>
              <a:t>• Provides sports administrators with objective academic cross-checks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Equipment Inventory &amp; Governance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Catalog across Cricket, Football, Basketball, Volleyball, and Badminton</a:t>
            </a:r>
            <a:br/>
            <a:r>
              <a:t>• Check-and-set availability calculation preventing over-allocation</a:t>
            </a:r>
            <a:br/>
            <a:r>
              <a:t>• Student-initiated return workflow with timestamped return requests</a:t>
            </a:r>
            <a:br/>
            <a:r>
              <a:t>• Admin inspection modal reconciling returned, damaged, and missing 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4. Admin Operations Control Center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4-in-1 workspace: Facility Bookings, Equipment, Facilities, Timetables</a:t>
            </a:r>
            <a:br/>
            <a:r>
              <a:t>• Status-filtered queues (Pending, Approved, Rejected, Cancelled)</a:t>
            </a:r>
            <a:br/>
            <a:r>
              <a:t>• One-click Approve / Reject with mandatory rejection reason logging</a:t>
            </a:r>
            <a:br/>
            <a:r>
              <a:t>• Full decision revocation capability (moving bookings back to pending)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User Journeys: Student &amp; Admin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10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332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STUDENT GROUND RESERVATION WORKFLOW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Step 1: Auth &amp; Profile ➔ Login with @vit.edu.in; system validates roll &amp; fetches branch/division/semester profile.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Step 2: Facility &amp; Slot ➔ Select facility (Ground 1/2, Court); pick date; select vacant 1-2 hour time-slot.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Step 3: Squad &amp; Gear ➔ Add teammate roll/emails; optionally request sports equipment (footballs, bats).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Step 4: Review &amp; Submit ➔ Confirm all details in review modal; submission locks slot &amp; generates Pending request.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Step 5: Live Notification ➔ Socket.io notifies student instantly when Admin reviews request with reason if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EQUIPMENT ISSUANCE &amp; RETURN INSPECTION WORKFLOW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Phase 1: Allocation ➔ Student requests equipment with ground booking; system checks check-and-set stock.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Phase 2: Admin Approval ➔ Admin reviews request; marks status as 'Approved' / 'Ready for Collection'.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Phase 3: Issuance ➔ Student collects gear at sports desk; Admin clicks 'Mark Issued' setting timestamp &amp; issuer.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Phase 4: Return Request ➔ Student returns gear; clicks 'Submit Return' updating status to 'Return Requested'.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▶ Phase 5: Reconciliation ➔ Admin inspects gear: confirms usable stock, logs damaged/missing units, and commits audit trail.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UI/UX Design System: Sport &amp; Nature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11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45643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SPORT &amp; NATURE HARMONY PALETTE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</a:defRPr>
            </a:pPr>
            <a:r>
              <a:t>• Primary Blue (#2563EB)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High-contrast action color for primary CTAs, active tabs, and navigation links.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• Emerald Green (#10B981)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Represents campus sports turf, vitality, and successful approval badges.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• Slate Dark (#0F172A)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Deep navy-slate background ensuring high visual hierarchy and readability.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• Status Colors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Green (Approved), Amber (Pending), Red (Rejected), Gray (Cancelled).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8016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80160"/>
            <a:ext cx="345643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TYPOGRAPHY &amp; MICRO-INTERACTIONS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92024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• Dual Font System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Poppins (600/700) for impactful headings + Inter (400/500) for body legibility.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Framer Motion Transitions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Smooth 200ms ease-out transitions on modals, cards, and buttons.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Glassmorphism &amp; Shadows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Subtle multi-layered neumorphic shadows and border highlights.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Responsive Viewport-First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Fluid layout optimized across mobile smartphones, tablets, and desktop.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28016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280160"/>
            <a:ext cx="3456432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USABILITY &amp; FORM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920240"/>
            <a:ext cx="31272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1E3A8A"/>
                </a:solidFill>
              </a:defRPr>
            </a:pPr>
            <a:r>
              <a:t>• Contextual Guidance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Inline validation errors, roll number format enforcement, and domain lock.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• Pre-Submission Review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Confirmation modal displaying all booking details prior to commit.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• Safe Empty States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Descriptive empty state illustrations when no bookings or requests exist.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• Zero Silent Overwrites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Verified profile data protected against student tampering.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Implementation &amp; Live Demonstration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12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⚙️ Core Implementation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▶ Service-Layer Decoupling: Controllers remain slim; business logic lives in dedicated services (timetableConflictService, equipmentService, socketService).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▶ Interval Overlap Mathematics: Custom time-parser converts '10–11 AM' into normalized 24-hr intervals (10:00-11:00); mathematically evaluates [startA &lt; endB &amp;&amp; endA &gt; startB] to detect true overlaps while permitting touching boundaries.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▶ Check-and-Set Inventory Idempotency: Atomic inventory checks prevent race conditions and duplicate restorations during concurrent return requests.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▶ Binary Magic-Byte Inspection: Uploaded timetable reference files are checked against raw binary byte headers (%PDF-, PNG, JPEG, WebP) to prevent extension spoofing and malware injection.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80160"/>
            <a:ext cx="5257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🎬 Step-by-Step Live Demonstration Plan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Step 1: Student Login &amp; Booking: Log in as student (roll: 24IT1C0001); navigate to /bookings; observe pre-filled academic profile (INFT, SE, Div A).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Step 2: Ground &amp; Slot Selection: Choose Football on Ground 1; observe green/gray availability grid; select 10–11 AM slot and 2 footballs.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Step 3: Review &amp; Submit: Inspect review modal with all squad details; submit booking; verify slot switches to Reserved.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Step 4: Admin Inspection: Open Admin Dashboard in second window; observe instant real-time notification; review Academic Verification report showing 'CONFLICT DETECTED'.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Step 5: Equipment Reconciliation: Navigate to Equipment tab; issue gear; trigger student return request; confirm return with damaged stock audit.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Automated Testing &amp; Empirical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13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5F46"/>
                </a:solidFill>
              </a:defRPr>
            </a:pPr>
            <a:r>
              <a:t>EMPIRICAL VERIFICATION: 49 AUTOMATED TESTS EXECUTED • 49 PASSED (100% SUCCESS RATE)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Executed using Node.js native test runner (node:test, node:assert/strict). All tests pass with zero mock failures, verifying backend stability, data integrity, security bounds, and business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34564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34564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Suite 1: Equipment Governance (10 Tests)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3182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</a:defRPr>
            </a:pPr>
            <a:r>
              <a:t>✔ Full Return Restores Usable Stock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Verified inventory increases by exact usable returned units.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✔ Partial Return &amp; Damage Reconciliation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Damaged and missing items logged without inflating usable stock.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✔ Check-and-Set Idempotency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Duplicate confirmation requests rejected; stock not restored twice.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✔ Unauthorized Student Block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Students barred from submitting returns for other peers.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✔ Cancellation Integrity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Cancelled requests release allocations without inventory leak.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377440"/>
            <a:ext cx="34564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377440"/>
            <a:ext cx="345643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Suite 2: Academic Profile &amp; Contact (15 Tests)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944368"/>
            <a:ext cx="3182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 b="1">
                <a:solidFill>
                  <a:srgbClr val="10B981"/>
                </a:solidFill>
              </a:defRPr>
            </a:pPr>
            <a:r>
              <a:t>✔ Strict Phone Validation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Mandatory 10-digit primary phone; optional distinct alternate.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✔ Profile Overwrite Immunity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Verified academic profile cannot be silently modified by client.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✔ Academic Combination Bounds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Invalid stream/year/division/semester combinations rejected.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✔ Data Privacy &amp; RBAC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Contact numbers restricted strictly to authorized sports admins.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✔ Safe Defaults for Existing Users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Legacy records handled gracefully without server exceptions.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377440"/>
            <a:ext cx="34564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377440"/>
            <a:ext cx="3456432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Suite 3: Conflict &amp; Document Security (24 Tests)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3182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 b="1">
                <a:solidFill>
                  <a:srgbClr val="1E3A8A"/>
                </a:solidFill>
              </a:defRPr>
            </a:pPr>
            <a:r>
              <a:t>✔ Slot Interval Overlap Detection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True overlaps flagged; exact boundary-touching slots allowed.</a:t>
            </a:r>
          </a:p>
          <a:p>
            <a:pPr>
              <a:spcBef>
                <a:spcPts val="500"/>
              </a:spcBef>
              <a:defRPr sz="1000" b="1">
                <a:solidFill>
                  <a:srgbClr val="1E3A8A"/>
                </a:solidFill>
              </a:defRPr>
            </a:pPr>
            <a:r>
              <a:t>✔ Division &amp; Branch Segregation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Correct division timetable queried per student record.</a:t>
            </a:r>
          </a:p>
          <a:p>
            <a:pPr>
              <a:spcBef>
                <a:spcPts val="500"/>
              </a:spcBef>
              <a:defRPr sz="1000" b="1">
                <a:solidFill>
                  <a:srgbClr val="1E3A8A"/>
                </a:solidFill>
              </a:defRPr>
            </a:pPr>
            <a:r>
              <a:t>✔ Multi-Hour Consecutive Checking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Full multi-slot reservation tested against academic schedule.</a:t>
            </a:r>
          </a:p>
          <a:p>
            <a:pPr>
              <a:spcBef>
                <a:spcPts val="500"/>
              </a:spcBef>
              <a:defRPr sz="1000" b="1">
                <a:solidFill>
                  <a:srgbClr val="1E3A8A"/>
                </a:solidFill>
              </a:defRPr>
            </a:pPr>
            <a:r>
              <a:t>✔ Binary Magic-Byte Inspection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Renamed text/spoofed files rejected; %PDF- &amp; image headers verified.</a:t>
            </a:r>
          </a:p>
          <a:p>
            <a:pPr>
              <a:spcBef>
                <a:spcPts val="500"/>
              </a:spcBef>
              <a:defRPr sz="1000" b="1">
                <a:solidFill>
                  <a:srgbClr val="1E3A8A"/>
                </a:solidFill>
              </a:defRPr>
            </a:pPr>
            <a:r>
              <a:t>✔ Anti-Path Traversal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</a:defRPr>
            </a:pPr>
            <a:r>
              <a:t>Malicious storage keys sanitized preventing directory escape.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CAMPUSPLAY • DESIGN THINKING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Challenges, Current Limitations &amp; Strategic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Vidyalankar Institute of Technology (VIT) | Department of Information Technology | Slide 14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🛠 Technical Challenges Overcome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Boundary-Touching Slots: Solved false positive conflicts when a booking starts exactly when a class ends by normalizing intervals into [start &lt; endSession &amp;&amp; end &gt; startSession].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Equipment Race Conditions: Prevented concurrent double-returns by implementing check-and-set idempotency.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File Upload Security: Prevented spoofed file uploads by parsing magic bytes rather than trusting file extensions.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1732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⚠️ Known Limitations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Physical Access Enforcement: System manages digital permissions; physical ground turnstiles or gate locks require human check-in.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Reference Document OCR: Scanned PDF/image timetables require visual admin inspection rather than automated OCR text extraction.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Single Institution Scope: Rosters and authentication currently configured specifically for Vidyalankar Institute of Technology (@vit.edu.in).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1732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🚀 Future Strategic Roadmap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Smart RFID / QR Turnstiles: Automated physical gate unlock upon scanning booking QR code on student mobile.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Inter-College Tournaments: Dedicated fixture scheduling, league tables, and team registration for annual campus fests.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Automated Equipment Fines: Integration with campus fee portal to automatically assess replacement fines for unreturned or damaged equipment.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PROJECT SUMMARY &amp; CONCLUSION</a:t>
            </a:r>
          </a:p>
          <a:p>
            <a:pPr>
              <a:spcBef>
                <a:spcPts val="600"/>
              </a:spcBef>
              <a:defRPr sz="3000" b="1">
                <a:solidFill>
                  <a:srgbClr val="FFFFFF"/>
                </a:solidFill>
              </a:defRPr>
            </a:pPr>
            <a:r>
              <a:t>Transforming Campus Athletics Through Engineered Design Thinking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32918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Problem Solved</a:t>
            </a:r>
          </a:p>
          <a:p>
            <a:pPr>
              <a:spcBef>
                <a:spcPts val="1000"/>
              </a:spcBef>
              <a:defRPr sz="1100">
                <a:solidFill>
                  <a:srgbClr val="DBEAFE"/>
                </a:solidFill>
              </a:defRPr>
            </a:pPr>
            <a:r>
              <a:t>Replaced opaque, manual, and conflict-prone paper ground scheduling with a transparent, real-time sports reservation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377440"/>
            <a:ext cx="32918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5603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Design Thinking Impact</a:t>
            </a:r>
          </a:p>
          <a:p>
            <a:pPr>
              <a:spcBef>
                <a:spcPts val="1000"/>
              </a:spcBef>
              <a:defRPr sz="1100">
                <a:solidFill>
                  <a:srgbClr val="DBEAFE"/>
                </a:solidFill>
              </a:defRPr>
            </a:pPr>
            <a:r>
              <a:t>Applied human-centered methodology (Empathize to Test), addressing genuine collegiate student and faculty pain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377440"/>
            <a:ext cx="32918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25603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Engineering Rigor</a:t>
            </a:r>
          </a:p>
          <a:p>
            <a:pPr>
              <a:spcBef>
                <a:spcPts val="1000"/>
              </a:spcBef>
              <a:defRPr sz="1100">
                <a:solidFill>
                  <a:srgbClr val="DBEAFE"/>
                </a:solidFill>
              </a:defRPr>
            </a:pPr>
            <a:r>
              <a:t>Built full-stack Next.js + Express + MongoDB architecture with Socket.io live sync and 49 verified automated unit/integration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37760"/>
            <a:ext cx="10362895" cy="13716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THANK YOU! QUESTIONS &amp; ANSWERS (VIVA DEFENSE)</a:t>
            </a:r>
          </a:p>
          <a:p>
            <a:pPr algn="ctr">
              <a:spcBef>
                <a:spcPts val="800"/>
              </a:spcBef>
              <a:defRPr sz="1100">
                <a:solidFill>
                  <a:srgbClr val="10B981"/>
                </a:solidFill>
              </a:defRPr>
            </a:pPr>
            <a:r>
              <a:t>Aryan Kelkar &amp; Project Team | Vidyalankar Institute of Technology (VIT) | Department of Information Technology</a:t>
            </a:r>
            <a:br/>
            <a:r>
              <a:t>Repository: https://github.com/aryankelkar/CampusPLAY | Backend Live: https://campusplay-4g0z.onrender.com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